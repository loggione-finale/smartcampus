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 (circa 30 secondi). Presentarsi a turno: ognuno dice il proprio nome e la propria area. Il prodotto è un prototipo verificato su dati sintetici.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Collegare il bisogno alle tre regole del cuore del prodotto. Dire chiaramente che l'utilizzo è parte dell'obiettivo (slide del committente), non un extra.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(asprenolapo). Elencare solo ciò che il PO ha deciso: il registro è docs/analysis/po-decisions.md. Le righe ancora in attesa vanno chiuse prima di presentare. Telefono e anticipo massimo: da confermare.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minuti, insieme alla slide successiva. Un database per servizio: nessuna query unisce MongoDB e PostgreSQL. Bookings salva una copia di nome, tipo ed edificio dello spazio e chiede a Spaces i dati attuali con REST e timeout. Dettagli e pro e contro in docs/architecture.md.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 dalla slide precedente. Dire il perché di ogni scelta e il compromesso accettato. Le scelte D1-D10 con pro e contro sono in docs/architecture.md; il PO non ha ancora validato tutto.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Le prime due regole sono vincoli di esclusione in PostgreSQL; le fasce e il limite per fascia sono decisioni del PO del 27/10 (indice univoco parziale). Gli orari delle fasce sono ancora da confermare nel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minuti, una parte ciascuno. Percorso su dati sintetici caricati dal seed (SC-SEED-*, vedi data/synthetic/bookings-seed.md). Aggiungere, quando pronti e provati, il login, i gruppi con inviti e la vista admin. Il percorso va provato a voce da tutto il gruppo almeno una volta.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minuti (Rhaastrake, FranDeSa456). Citare solo ciò che è stato eseguito, con l'esito vero: la concorrenza sull'aula mista è superata in locale ma in CI c'e stato un fallimento (issue 142, ancora in indagine). Evidenze in docs/evidence/ e nei test di tests/SmartCampus.Bookings.Tests.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minuto. Dichiarare i limiti prima che li trovi qualcun altro. Frase da dire: i dati sintetici verificano il prototipo ma non dimostrano benefici reali per il campus.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 (FranDeSa456 per i costi). I costi di sviluppo e di gestione vanno compilati dal responsabile prima della presentazione: qui non sono stati inventati. Gli sviluppi futuri sono proposte, non impegni.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Ognuno spiega in 20 secondi il proprio contributo e un'evidenza che può mostrare. Ognuno rilegge e fa proprio il documento della propria area prima della presentazione.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SmartCampus</a:t>
            </a:r>
            <a:endParaRPr lang="en-US" sz="5400" dirty="0"/>
          </a:p>
        </p:txBody>
      </p:sp>
      <p:sp>
        <p:nvSpPr>
          <p:cNvPr id="3" name="text-2"/>
          <p:cNvSpPr txBox="1"/>
          <p:nvPr/>
        </p:nvSpPr>
        <p:spPr>
          <a:xfrm>
            <a:off x="640080" y="25603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 e prenotare gli spazi del campus senza conflitti, e capire come vengono usati</a:t>
            </a:r>
            <a:endParaRPr lang="en-US" sz="2200" dirty="0"/>
          </a:p>
        </p:txBody>
      </p:sp>
      <p:sp>
        <p:nvSpPr>
          <p:cNvPr id="4" name="text-3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 ITS Bari - 29/10/2026 - dati sintetici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bisogno</a:t>
            </a:r>
            <a:endParaRPr lang="en-US" sz="3200" dirty="0"/>
          </a:p>
        </p:txBody>
      </p:sp>
      <p:sp>
        <p:nvSpPr>
          <p:cNvPr id="4" name="card-4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5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6"/>
          <p:cNvSpPr txBox="1"/>
          <p:nvPr/>
        </p:nvSpPr>
        <p:spPr>
          <a:xfrm>
            <a:off x="6858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-7"/>
          <p:cNvSpPr txBox="1"/>
          <p:nvPr/>
        </p:nvSpPr>
        <p:spPr>
          <a:xfrm>
            <a:off x="68580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Trovare</a:t>
            </a:r>
            <a:endParaRPr lang="en-US" sz="2400" dirty="0"/>
          </a:p>
        </p:txBody>
      </p:sp>
      <p:sp>
        <p:nvSpPr>
          <p:cNvPr id="8" name="text-8"/>
          <p:cNvSpPr txBox="1"/>
          <p:nvPr/>
        </p:nvSpPr>
        <p:spPr>
          <a:xfrm>
            <a:off x="68580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Aule, laboratori e sale studio adatti e liberi nella fascia che serve.</a:t>
            </a:r>
            <a:endParaRPr lang="en-US" sz="1500" dirty="0"/>
          </a:p>
        </p:txBody>
      </p:sp>
      <p:sp>
        <p:nvSpPr>
          <p:cNvPr id="9" name="card-9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10"/>
          <p:cNvSpPr/>
          <p:nvPr/>
        </p:nvSpPr>
        <p:spPr>
          <a:xfrm>
            <a:off x="352044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-11"/>
          <p:cNvSpPr txBox="1"/>
          <p:nvPr/>
        </p:nvSpPr>
        <p:spPr>
          <a:xfrm>
            <a:off x="3520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-12"/>
          <p:cNvSpPr txBox="1"/>
          <p:nvPr/>
        </p:nvSpPr>
        <p:spPr>
          <a:xfrm>
            <a:off x="352044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Prenotare</a:t>
            </a:r>
            <a:endParaRPr lang="en-US" sz="2400" dirty="0"/>
          </a:p>
        </p:txBody>
      </p:sp>
      <p:sp>
        <p:nvSpPr>
          <p:cNvPr id="13" name="text-13"/>
          <p:cNvSpPr txBox="1"/>
          <p:nvPr/>
        </p:nvSpPr>
        <p:spPr>
          <a:xfrm>
            <a:off x="352044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conferma affidabile, anche per un gruppo, senza sovrapposizioni.</a:t>
            </a:r>
            <a:endParaRPr lang="en-US" sz="1500" dirty="0"/>
          </a:p>
        </p:txBody>
      </p:sp>
      <p:sp>
        <p:nvSpPr>
          <p:cNvPr id="14" name="card-14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15"/>
          <p:cNvSpPr/>
          <p:nvPr/>
        </p:nvSpPr>
        <p:spPr>
          <a:xfrm>
            <a:off x="635508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16"/>
          <p:cNvSpPr txBox="1"/>
          <p:nvPr/>
        </p:nvSpPr>
        <p:spPr>
          <a:xfrm>
            <a:off x="63550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-17"/>
          <p:cNvSpPr txBox="1"/>
          <p:nvPr/>
        </p:nvSpPr>
        <p:spPr>
          <a:xfrm>
            <a:off x="6355080" y="2423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Capire</a:t>
            </a:r>
            <a:endParaRPr lang="en-US" sz="2400" dirty="0"/>
          </a:p>
        </p:txBody>
      </p:sp>
      <p:sp>
        <p:nvSpPr>
          <p:cNvPr id="18" name="text-18"/>
          <p:cNvSpPr txBox="1"/>
          <p:nvPr/>
        </p:nvSpPr>
        <p:spPr>
          <a:xfrm>
            <a:off x="635508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gli spazi vengono usati davvero, senza scambiare l'assenza di dati per assenza di utilizzo.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Perimetro concordato</a:t>
            </a:r>
            <a:endParaRPr lang="en-US" sz="3200" dirty="0"/>
          </a:p>
        </p:txBody>
      </p:sp>
      <p:sp>
        <p:nvSpPr>
          <p:cNvPr id="4" name="card-19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20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21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</a:t>
            </a:r>
            <a:endParaRPr lang="en-US" sz="2200" dirty="0"/>
          </a:p>
        </p:txBody>
      </p:sp>
      <p:sp>
        <p:nvSpPr>
          <p:cNvPr id="7" name="text-22"/>
          <p:cNvSpPr txBox="1"/>
          <p:nvPr/>
        </p:nvSpPr>
        <p:spPr>
          <a:xfrm>
            <a:off x="685800" y="18745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Aule, laboratori, sale studio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Aule dedicate e miste (posti)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 singole e di gruppo, con inviti per email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Durata 30 minuti - 4 ore, in tre fasce orarie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Annullamento e commento finale</a:t>
            </a:r>
            <a:endParaRPr lang="en-US" sz="1500" dirty="0"/>
          </a:p>
        </p:txBody>
      </p:sp>
      <p:sp>
        <p:nvSpPr>
          <p:cNvPr id="8" name="text-23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Fuori, per scelta</a:t>
            </a:r>
            <a:endParaRPr lang="en-US" sz="2200" dirty="0"/>
          </a:p>
        </p:txBody>
      </p:sp>
      <p:sp>
        <p:nvSpPr>
          <p:cNvPr id="9" name="text-24"/>
          <p:cNvSpPr txBox="1"/>
          <p:nvPr/>
        </p:nvSpPr>
        <p:spPr>
          <a:xfrm>
            <a:off x="4892040" y="187452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personali reali: solo dati sintetici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 o account esterni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reali: file .eml in una cartella locale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 reali per il campus: non dimostrabili con dati sintetici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Architettura: tre servizi</a:t>
            </a:r>
            <a:endParaRPr lang="en-US" sz="3200" dirty="0"/>
          </a:p>
        </p:txBody>
      </p:sp>
      <p:sp>
        <p:nvSpPr>
          <p:cNvPr id="4" name="node-25"/>
          <p:cNvSpPr/>
          <p:nvPr/>
        </p:nvSpPr>
        <p:spPr>
          <a:xfrm>
            <a:off x="457200" y="1828800"/>
            <a:ext cx="2377440" cy="146304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26"/>
          <p:cNvSpPr txBox="1"/>
          <p:nvPr/>
        </p:nvSpPr>
        <p:spPr>
          <a:xfrm>
            <a:off x="594360" y="1938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800" dirty="0"/>
          </a:p>
        </p:txBody>
      </p:sp>
      <p:sp>
        <p:nvSpPr>
          <p:cNvPr id="6" name="text-27"/>
          <p:cNvSpPr txBox="1"/>
          <p:nvPr/>
        </p:nvSpPr>
        <p:spPr>
          <a:xfrm>
            <a:off x="594360" y="23317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Material, proxy verso i servizi</a:t>
            </a:r>
            <a:endParaRPr lang="en-US" sz="1300" dirty="0"/>
          </a:p>
        </p:txBody>
      </p:sp>
      <p:sp>
        <p:nvSpPr>
          <p:cNvPr id="7" name="node-28"/>
          <p:cNvSpPr/>
          <p:nvPr/>
        </p:nvSpPr>
        <p:spPr>
          <a:xfrm>
            <a:off x="4023360" y="118872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29"/>
          <p:cNvSpPr txBox="1"/>
          <p:nvPr/>
        </p:nvSpPr>
        <p:spPr>
          <a:xfrm>
            <a:off x="4160520" y="1298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800" dirty="0"/>
          </a:p>
        </p:txBody>
      </p:sp>
      <p:sp>
        <p:nvSpPr>
          <p:cNvPr id="9" name="text-30"/>
          <p:cNvSpPr txBox="1"/>
          <p:nvPr/>
        </p:nvSpPr>
        <p:spPr>
          <a:xfrm>
            <a:off x="416052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- accesso e profili</a:t>
            </a:r>
            <a:endParaRPr lang="en-US" sz="1300" dirty="0"/>
          </a:p>
        </p:txBody>
      </p:sp>
      <p:sp>
        <p:nvSpPr>
          <p:cNvPr id="10" name="node-31"/>
          <p:cNvSpPr/>
          <p:nvPr/>
        </p:nvSpPr>
        <p:spPr>
          <a:xfrm>
            <a:off x="4023360" y="242316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-32"/>
          <p:cNvSpPr txBox="1"/>
          <p:nvPr/>
        </p:nvSpPr>
        <p:spPr>
          <a:xfrm>
            <a:off x="4160520" y="25328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Bookings</a:t>
            </a:r>
            <a:endParaRPr lang="en-US" sz="1800" dirty="0"/>
          </a:p>
        </p:txBody>
      </p:sp>
      <p:sp>
        <p:nvSpPr>
          <p:cNvPr id="12" name="text-33"/>
          <p:cNvSpPr txBox="1"/>
          <p:nvPr/>
        </p:nvSpPr>
        <p:spPr>
          <a:xfrm>
            <a:off x="416052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- prenotazioni</a:t>
            </a:r>
            <a:endParaRPr lang="en-US" sz="1300" dirty="0"/>
          </a:p>
        </p:txBody>
      </p:sp>
      <p:sp>
        <p:nvSpPr>
          <p:cNvPr id="13" name="node-34"/>
          <p:cNvSpPr/>
          <p:nvPr/>
        </p:nvSpPr>
        <p:spPr>
          <a:xfrm>
            <a:off x="4023360" y="36576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35"/>
          <p:cNvSpPr txBox="1"/>
          <p:nvPr/>
        </p:nvSpPr>
        <p:spPr>
          <a:xfrm>
            <a:off x="4160520" y="3767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Spaces</a:t>
            </a:r>
            <a:endParaRPr lang="en-US" sz="1800" dirty="0"/>
          </a:p>
        </p:txBody>
      </p:sp>
      <p:sp>
        <p:nvSpPr>
          <p:cNvPr id="15" name="text-36"/>
          <p:cNvSpPr txBox="1"/>
          <p:nvPr/>
        </p:nvSpPr>
        <p:spPr>
          <a:xfrm>
            <a:off x="4160520" y="41605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- catalogo</a:t>
            </a:r>
            <a:endParaRPr lang="en-US" sz="1300" dirty="0"/>
          </a:p>
        </p:txBody>
      </p:sp>
      <p:sp>
        <p:nvSpPr>
          <p:cNvPr id="16" name="arrow-37"/>
          <p:cNvSpPr/>
          <p:nvPr/>
        </p:nvSpPr>
        <p:spPr>
          <a:xfrm flipV="1">
            <a:off x="2834640" y="1691640"/>
            <a:ext cx="1188720" cy="5943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arrow-38"/>
          <p:cNvSpPr/>
          <p:nvPr/>
        </p:nvSpPr>
        <p:spPr>
          <a:xfrm>
            <a:off x="2834640" y="2560320"/>
            <a:ext cx="1188720" cy="3657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arrow-39"/>
          <p:cNvSpPr/>
          <p:nvPr/>
        </p:nvSpPr>
        <p:spPr>
          <a:xfrm>
            <a:off x="2834640" y="2834640"/>
            <a:ext cx="1188720" cy="128016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arrow-40"/>
          <p:cNvSpPr/>
          <p:nvPr/>
        </p:nvSpPr>
        <p:spPr>
          <a:xfrm>
            <a:off x="5212080" y="3429000"/>
            <a:ext cx="0" cy="2286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-41"/>
          <p:cNvSpPr txBox="1"/>
          <p:nvPr/>
        </p:nvSpPr>
        <p:spPr>
          <a:xfrm>
            <a:off x="6675120" y="242316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 timeout di 3 secondi: se Spaces non risponde, Bookings risponde 503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scelte principali</a:t>
            </a:r>
            <a:endParaRPr lang="en-US" sz="3200" dirty="0"/>
          </a:p>
        </p:txBody>
      </p:sp>
      <p:graphicFrame>
        <p:nvGraphicFramePr>
          <p:cNvPr id="6" name="table-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 e con quale compromesso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Microservizi, solo 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Confini chiari per area, lavoro in parallelo; costo: più avvio e più integrazioni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database per servizio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per i dati relazionali, MongoDB per le caratteristiche variabili degli spazi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Vincoli di esclusione nel database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Nessuna sovrapposizione anche con richieste simultanee, senza logica fragile nel codice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sincrono con timeout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Semplice da provare e da spiegare; limite: Bookings dipende da Spaces in creazione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Angular Material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Strumento visto nel corso, interfaccia coerente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regole che il database garantisce</a:t>
            </a:r>
            <a:endParaRPr lang="en-US" sz="3200" dirty="0"/>
          </a:p>
        </p:txBody>
      </p:sp>
      <p:sp>
        <p:nvSpPr>
          <p:cNvPr id="4" name="card-43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44"/>
          <p:cNvSpPr/>
          <p:nvPr/>
        </p:nvSpPr>
        <p:spPr>
          <a:xfrm>
            <a:off x="640080" y="13898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-45"/>
          <p:cNvSpPr txBox="1"/>
          <p:nvPr/>
        </p:nvSpPr>
        <p:spPr>
          <a:xfrm>
            <a:off x="640080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-46"/>
          <p:cNvSpPr txBox="1"/>
          <p:nvPr/>
        </p:nvSpPr>
        <p:spPr>
          <a:xfrm>
            <a:off x="1280160" y="130759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due prenotazioni sovrapposte sullo stesso spazio</a:t>
            </a:r>
            <a:endParaRPr lang="en-US" sz="1700" dirty="0"/>
          </a:p>
        </p:txBody>
      </p:sp>
      <p:sp>
        <p:nvSpPr>
          <p:cNvPr id="8" name="text-47"/>
          <p:cNvSpPr txBox="1"/>
          <p:nvPr/>
        </p:nvSpPr>
        <p:spPr>
          <a:xfrm>
            <a:off x="1280160" y="16367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 di esclusione sullo spazio e sul periodo</a:t>
            </a:r>
            <a:endParaRPr lang="en-US" sz="1400" dirty="0"/>
          </a:p>
        </p:txBody>
      </p:sp>
      <p:sp>
        <p:nvSpPr>
          <p:cNvPr id="9" name="card-48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49"/>
          <p:cNvSpPr/>
          <p:nvPr/>
        </p:nvSpPr>
        <p:spPr>
          <a:xfrm>
            <a:off x="640080" y="225856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-50"/>
          <p:cNvSpPr txBox="1"/>
          <p:nvPr/>
        </p:nvSpPr>
        <p:spPr>
          <a:xfrm>
            <a:off x="640080" y="2258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-51"/>
          <p:cNvSpPr txBox="1"/>
          <p:nvPr/>
        </p:nvSpPr>
        <p:spPr>
          <a:xfrm>
            <a:off x="1280160" y="217627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una persona in due prenotazioni sovrapposte</a:t>
            </a:r>
            <a:endParaRPr lang="en-US" sz="1700" dirty="0"/>
          </a:p>
        </p:txBody>
      </p:sp>
      <p:sp>
        <p:nvSpPr>
          <p:cNvPr id="13" name="text-52"/>
          <p:cNvSpPr txBox="1"/>
          <p:nvPr/>
        </p:nvSpPr>
        <p:spPr>
          <a:xfrm>
            <a:off x="1280160" y="2505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Vincolo di esclusione sulle persone confermate</a:t>
            </a:r>
            <a:endParaRPr lang="en-US" sz="1400" dirty="0"/>
          </a:p>
        </p:txBody>
      </p:sp>
      <p:sp>
        <p:nvSpPr>
          <p:cNvPr id="14" name="card-53"/>
          <p:cNvSpPr/>
          <p:nvPr/>
        </p:nvSpPr>
        <p:spPr>
          <a:xfrm>
            <a:off x="457200" y="297180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54"/>
          <p:cNvSpPr/>
          <p:nvPr/>
        </p:nvSpPr>
        <p:spPr>
          <a:xfrm>
            <a:off x="640080" y="312724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55"/>
          <p:cNvSpPr txBox="1"/>
          <p:nvPr/>
        </p:nvSpPr>
        <p:spPr>
          <a:xfrm>
            <a:off x="64008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-56"/>
          <p:cNvSpPr txBox="1"/>
          <p:nvPr/>
        </p:nvSpPr>
        <p:spPr>
          <a:xfrm>
            <a:off x="1280160" y="304495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mista: mai oltre la capienza</a:t>
            </a:r>
            <a:endParaRPr lang="en-US" sz="1700" dirty="0"/>
          </a:p>
        </p:txBody>
      </p:sp>
      <p:sp>
        <p:nvSpPr>
          <p:cNvPr id="18" name="text-57"/>
          <p:cNvSpPr txBox="1"/>
          <p:nvPr/>
        </p:nvSpPr>
        <p:spPr>
          <a:xfrm>
            <a:off x="1280160" y="33741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sull'aula e conteggio dei posti nella transazione</a:t>
            </a:r>
            <a:endParaRPr lang="en-US" sz="1400" dirty="0"/>
          </a:p>
        </p:txBody>
      </p:sp>
      <p:sp>
        <p:nvSpPr>
          <p:cNvPr id="19" name="card-5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59"/>
          <p:cNvSpPr/>
          <p:nvPr/>
        </p:nvSpPr>
        <p:spPr>
          <a:xfrm>
            <a:off x="640080" y="39959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-60"/>
          <p:cNvSpPr txBox="1"/>
          <p:nvPr/>
        </p:nvSpPr>
        <p:spPr>
          <a:xfrm>
            <a:off x="640080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-61"/>
          <p:cNvSpPr txBox="1"/>
          <p:nvPr/>
        </p:nvSpPr>
        <p:spPr>
          <a:xfrm>
            <a:off x="1280160" y="391363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prenotazione per fascia e per giorno</a:t>
            </a:r>
            <a:endParaRPr lang="en-US" sz="1700" dirty="0"/>
          </a:p>
        </p:txBody>
      </p:sp>
      <p:sp>
        <p:nvSpPr>
          <p:cNvPr id="23" name="text-62"/>
          <p:cNvSpPr txBox="1"/>
          <p:nvPr/>
        </p:nvSpPr>
        <p:spPr>
          <a:xfrm>
            <a:off x="1280160" y="42428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Mattina 08-14, pomeriggio 14-19, sera 19-23 (ora di Roma)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demo</a:t>
            </a:r>
            <a:endParaRPr lang="en-US" sz="3200" dirty="0"/>
          </a:p>
        </p:txBody>
      </p:sp>
      <p:sp>
        <p:nvSpPr>
          <p:cNvPr id="4" name="card-63"/>
          <p:cNvSpPr/>
          <p:nvPr/>
        </p:nvSpPr>
        <p:spPr>
          <a:xfrm>
            <a:off x="457200" y="128016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64"/>
          <p:cNvSpPr txBox="1"/>
          <p:nvPr/>
        </p:nvSpPr>
        <p:spPr>
          <a:xfrm>
            <a:off x="64008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-65"/>
          <p:cNvSpPr txBox="1"/>
          <p:nvPr/>
        </p:nvSpPr>
        <p:spPr>
          <a:xfrm>
            <a:off x="1325880" y="1389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Prenotare</a:t>
            </a:r>
            <a:endParaRPr lang="en-US" sz="1800" dirty="0"/>
          </a:p>
        </p:txBody>
      </p:sp>
      <p:sp>
        <p:nvSpPr>
          <p:cNvPr id="7" name="text-66"/>
          <p:cNvSpPr txBox="1"/>
          <p:nvPr/>
        </p:nvSpPr>
        <p:spPr>
          <a:xfrm>
            <a:off x="132588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101 in una fascia libera: conferma con codice leggibile</a:t>
            </a:r>
            <a:endParaRPr lang="en-US" sz="1400" dirty="0"/>
          </a:p>
        </p:txBody>
      </p:sp>
      <p:sp>
        <p:nvSpPr>
          <p:cNvPr id="8" name="card-67"/>
          <p:cNvSpPr/>
          <p:nvPr/>
        </p:nvSpPr>
        <p:spPr>
          <a:xfrm>
            <a:off x="4663440" y="128016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68"/>
          <p:cNvSpPr txBox="1"/>
          <p:nvPr/>
        </p:nvSpPr>
        <p:spPr>
          <a:xfrm>
            <a:off x="4846320" y="1463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-69"/>
          <p:cNvSpPr txBox="1"/>
          <p:nvPr/>
        </p:nvSpPr>
        <p:spPr>
          <a:xfrm>
            <a:off x="5532120" y="1389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Conflitto</a:t>
            </a:r>
            <a:endParaRPr lang="en-US" sz="1800" dirty="0"/>
          </a:p>
        </p:txBody>
      </p:sp>
      <p:sp>
        <p:nvSpPr>
          <p:cNvPr id="11" name="text-70"/>
          <p:cNvSpPr txBox="1"/>
          <p:nvPr/>
        </p:nvSpPr>
        <p:spPr>
          <a:xfrm>
            <a:off x="5532120" y="1737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Fascia sovrapposta: messaggio e 409</a:t>
            </a:r>
            <a:endParaRPr lang="en-US" sz="1400" dirty="0"/>
          </a:p>
        </p:txBody>
      </p:sp>
      <p:sp>
        <p:nvSpPr>
          <p:cNvPr id="12" name="card-71"/>
          <p:cNvSpPr/>
          <p:nvPr/>
        </p:nvSpPr>
        <p:spPr>
          <a:xfrm>
            <a:off x="457200" y="242316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-72"/>
          <p:cNvSpPr txBox="1"/>
          <p:nvPr/>
        </p:nvSpPr>
        <p:spPr>
          <a:xfrm>
            <a:off x="640080" y="2606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-73"/>
          <p:cNvSpPr txBox="1"/>
          <p:nvPr/>
        </p:nvSpPr>
        <p:spPr>
          <a:xfrm>
            <a:off x="1325880" y="2532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Adiacenti</a:t>
            </a:r>
            <a:endParaRPr lang="en-US" sz="1800" dirty="0"/>
          </a:p>
        </p:txBody>
      </p:sp>
      <p:sp>
        <p:nvSpPr>
          <p:cNvPr id="15" name="text-74"/>
          <p:cNvSpPr txBox="1"/>
          <p:nvPr/>
        </p:nvSpPr>
        <p:spPr>
          <a:xfrm>
            <a:off x="132588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finisce quando inizia l'altra: entrambe accettate</a:t>
            </a:r>
            <a:endParaRPr lang="en-US" sz="1400" dirty="0"/>
          </a:p>
        </p:txBody>
      </p:sp>
      <p:sp>
        <p:nvSpPr>
          <p:cNvPr id="16" name="card-75"/>
          <p:cNvSpPr/>
          <p:nvPr/>
        </p:nvSpPr>
        <p:spPr>
          <a:xfrm>
            <a:off x="4663440" y="242316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-76"/>
          <p:cNvSpPr txBox="1"/>
          <p:nvPr/>
        </p:nvSpPr>
        <p:spPr>
          <a:xfrm>
            <a:off x="4846320" y="2606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-77"/>
          <p:cNvSpPr txBox="1"/>
          <p:nvPr/>
        </p:nvSpPr>
        <p:spPr>
          <a:xfrm>
            <a:off x="5532120" y="2532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Annullare</a:t>
            </a:r>
            <a:endParaRPr lang="en-US" sz="1800" dirty="0"/>
          </a:p>
        </p:txBody>
      </p:sp>
      <p:sp>
        <p:nvSpPr>
          <p:cNvPr id="19" name="text-78"/>
          <p:cNvSpPr txBox="1"/>
          <p:nvPr/>
        </p:nvSpPr>
        <p:spPr>
          <a:xfrm>
            <a:off x="5532120" y="2880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fascia torna libera per tutti</a:t>
            </a:r>
            <a:endParaRPr lang="en-US" sz="1400" dirty="0"/>
          </a:p>
        </p:txBody>
      </p:sp>
      <p:sp>
        <p:nvSpPr>
          <p:cNvPr id="20" name="card-79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80"/>
          <p:cNvSpPr txBox="1"/>
          <p:nvPr/>
        </p:nvSpPr>
        <p:spPr>
          <a:xfrm>
            <a:off x="64008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2" name="text-81"/>
          <p:cNvSpPr txBox="1"/>
          <p:nvPr/>
        </p:nvSpPr>
        <p:spPr>
          <a:xfrm>
            <a:off x="1325880" y="3675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piena</a:t>
            </a:r>
            <a:endParaRPr lang="en-US" sz="1800" dirty="0"/>
          </a:p>
        </p:txBody>
      </p:sp>
      <p:sp>
        <p:nvSpPr>
          <p:cNvPr id="23" name="text-82"/>
          <p:cNvSpPr txBox="1"/>
          <p:nvPr/>
        </p:nvSpPr>
        <p:spPr>
          <a:xfrm>
            <a:off x="132588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204 da 6 posti: la settima persona viene rifiutata</a:t>
            </a:r>
            <a:endParaRPr lang="en-US" sz="1400" dirty="0"/>
          </a:p>
        </p:txBody>
      </p:sp>
      <p:sp>
        <p:nvSpPr>
          <p:cNvPr id="24" name="card-83"/>
          <p:cNvSpPr/>
          <p:nvPr/>
        </p:nvSpPr>
        <p:spPr>
          <a:xfrm>
            <a:off x="4663440" y="3566160"/>
            <a:ext cx="4023360" cy="1005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84"/>
          <p:cNvSpPr txBox="1"/>
          <p:nvPr/>
        </p:nvSpPr>
        <p:spPr>
          <a:xfrm>
            <a:off x="4846320" y="3749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600" dirty="0"/>
          </a:p>
        </p:txBody>
      </p:sp>
      <p:sp>
        <p:nvSpPr>
          <p:cNvPr id="26" name="text-85"/>
          <p:cNvSpPr txBox="1"/>
          <p:nvPr/>
        </p:nvSpPr>
        <p:spPr>
          <a:xfrm>
            <a:off x="5532120" y="367588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Commento</a:t>
            </a:r>
            <a:endParaRPr lang="en-US" sz="1800" dirty="0"/>
          </a:p>
        </p:txBody>
      </p:sp>
      <p:sp>
        <p:nvSpPr>
          <p:cNvPr id="27" name="text-86"/>
          <p:cNvSpPr txBox="1"/>
          <p:nvPr/>
        </p:nvSpPr>
        <p:spPr>
          <a:xfrm>
            <a:off x="5532120" y="40233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Senza commento finale non si prenota di nuovo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eseguite</a:t>
            </a:r>
            <a:endParaRPr lang="en-US" sz="3200" dirty="0"/>
          </a:p>
        </p:txBody>
      </p:sp>
      <p:graphicFrame>
        <p:nvGraphicFramePr>
          <p:cNvPr id="9" name="table-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dimostra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Esito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Concorrenza sul 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richieste simultanee: una sola accettata sull'aula dedicata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Concorrenza via HTTP, aula mista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richieste su 5 posti: 5 accettate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Locale sì, in CI un fallimento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Vincoli su spazi e persone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database rifiuta le sovrapposizioni, accetta le adiacenti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Orari e ora legale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 a Roma resta 10:00 nei giorni del cambio 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dei dati sintetici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avvii non duplicano i dati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-88"/>
          <p:cNvSpPr txBox="1"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su PostgreSQL reale, non in memoria.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Limiti noti</a:t>
            </a:r>
            <a:endParaRPr lang="en-US" sz="3200" dirty="0"/>
          </a:p>
        </p:txBody>
      </p:sp>
      <p:sp>
        <p:nvSpPr>
          <p:cNvPr id="4" name="card-89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90"/>
          <p:cNvSpPr txBox="1"/>
          <p:nvPr/>
        </p:nvSpPr>
        <p:spPr>
          <a:xfrm>
            <a:off x="685800" y="13258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dati sintetici verificano il prototipo, ma non dimostrano benefici reali per il campus.</a:t>
            </a:r>
            <a:endParaRPr lang="en-US" sz="2000" dirty="0"/>
          </a:p>
        </p:txBody>
      </p:sp>
      <p:sp>
        <p:nvSpPr>
          <p:cNvPr id="6" name="text-91"/>
          <p:cNvSpPr txBox="1"/>
          <p:nvPr/>
        </p:nvSpPr>
        <p:spPr>
          <a:xfrm>
            <a:off x="457200" y="2331720"/>
            <a:ext cx="8229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Concorrenza provata su un solo servizio e un solo database PostgreSQL; con più istanze va ripetuta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mista: un fallimento in CI ancora in indagine, il tetto di capienza non è dimostrato in modo affidabile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come file .eml, nessun invio reale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Prenotazioni già terminate non annullabili (scelta del gruppo, da confermare)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Decisioni del PO ancora in attesa nel registro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 e sviluppi futuri</a:t>
            </a:r>
            <a:endParaRPr lang="en-US" sz="3200" dirty="0"/>
          </a:p>
        </p:txBody>
      </p:sp>
      <p:sp>
        <p:nvSpPr>
          <p:cNvPr id="4" name="card-92"/>
          <p:cNvSpPr/>
          <p:nvPr/>
        </p:nvSpPr>
        <p:spPr>
          <a:xfrm>
            <a:off x="457200" y="1280160"/>
            <a:ext cx="40233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93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94"/>
          <p:cNvSpPr txBox="1"/>
          <p:nvPr/>
        </p:nvSpPr>
        <p:spPr>
          <a:xfrm>
            <a:off x="68580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Costi</a:t>
            </a:r>
            <a:endParaRPr lang="en-US" sz="2200" dirty="0"/>
          </a:p>
        </p:txBody>
      </p:sp>
      <p:sp>
        <p:nvSpPr>
          <p:cNvPr id="7" name="text-95"/>
          <p:cNvSpPr txBox="1"/>
          <p:nvPr/>
        </p:nvSpPr>
        <p:spPr>
          <a:xfrm>
            <a:off x="685800" y="19202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completare con chi cura la valutazione dei costi: sviluppo, gestione e dipendenze.</a:t>
            </a:r>
            <a:endParaRPr lang="en-US" sz="1600" dirty="0"/>
          </a:p>
        </p:txBody>
      </p:sp>
      <p:sp>
        <p:nvSpPr>
          <p:cNvPr id="8" name="text-96"/>
          <p:cNvSpPr txBox="1"/>
          <p:nvPr/>
        </p:nvSpPr>
        <p:spPr>
          <a:xfrm>
            <a:off x="489204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Sviluppi futuri</a:t>
            </a:r>
            <a:endParaRPr lang="en-US" sz="2200" dirty="0"/>
          </a:p>
        </p:txBody>
      </p:sp>
      <p:sp>
        <p:nvSpPr>
          <p:cNvPr id="9" name="text-97"/>
          <p:cNvSpPr txBox="1"/>
          <p:nvPr/>
        </p:nvSpPr>
        <p:spPr>
          <a:xfrm>
            <a:off x="489204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reali al posto dei file .eml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Autenticazione con account dell'istituto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 d'uso dai commenti finali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 istanze dei servizi, con prove di concorrenza ripetute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ha fatto cosa</a:t>
            </a:r>
            <a:endParaRPr lang="en-US" sz="3200" dirty="0"/>
          </a:p>
        </p:txBody>
      </p:sp>
      <p:graphicFrame>
        <p:nvGraphicFramePr>
          <p:cNvPr id="12" name="table-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asprenolapo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Piattaforma: soluzione, Docker Compose, CI, verifica del token; incontro con il 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AldAndrew0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su MongoDB: catalogo, indisponibilità, strumenti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Rhaastrake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Bookings: schema, creazione, annullamento, vincoli, aule miste, orari, seed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FranDeSa456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Bookings: inviti, email, mie prenotazioni, test di concorrenza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fedeericodl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e accesso, commento finale, dati sintetici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antoStr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admin: dashboard, avvisi, eccezioni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Leo-prova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utente: accesso, prenotazione, gestione errori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Campus">
  <a:themeElements>
    <a:clrScheme name="SmartCampus">
      <a:dk1>
        <a:srgbClr val="1B2A2F"/>
      </a:dk1>
      <a:lt1>
        <a:srgbClr val="FFFFFF"/>
      </a:lt1>
      <a:dk2>
        <a:srgbClr val="0F4C5C"/>
      </a:dk2>
      <a:lt2>
        <a:srgbClr val="EEF3F2"/>
      </a:lt2>
      <a:accent1>
        <a:srgbClr val="0F4C5C"/>
      </a:accent1>
      <a:accent2>
        <a:srgbClr val="E36414"/>
      </a:accent2>
      <a:accent3>
        <a:srgbClr val="5F8D8B"/>
      </a:accent3>
      <a:accent4>
        <a:srgbClr val="9A031E"/>
      </a:accent4>
      <a:accent5>
        <a:srgbClr val="2E7D5B"/>
      </a:accent5>
      <a:accent6>
        <a:srgbClr val="8D99AE"/>
      </a:accent6>
      <a:hlink>
        <a:srgbClr val="0F4C5C"/>
      </a:hlink>
      <a:folHlink>
        <a:srgbClr val="5F8D8B"/>
      </a:folHlink>
    </a:clrScheme>
    <a:fontScheme name="SmartCampu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SmartCampus - presentazione e demo</dc:title>
  <dc:subject>PptxGenJS Presentation</dc:subject>
  <dc:creator>Gruppo SmartCampus</dc:creator>
  <cp:lastModifiedBy>Gruppo SmartCampus</cp:lastModifiedBy>
  <cp:revision>1</cp:revision>
  <dcterms:created xsi:type="dcterms:W3CDTF">2026-10-27T13:06:17Z</dcterms:created>
  <dcterms:modified xsi:type="dcterms:W3CDTF">2026-10-27T13:06:17Z</dcterms:modified>
</cp:coreProperties>
</file>